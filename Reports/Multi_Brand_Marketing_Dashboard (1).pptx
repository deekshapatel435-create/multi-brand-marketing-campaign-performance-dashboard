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EC4899"/>
            </a:solidFill>
            <a:ln w="38100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Apr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Aug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Dec 24</c:v>
                  </c:pt>
                  <c:pt idx="12">
                    <c:v>Jan 25</c:v>
                  </c:pt>
                  <c:pt idx="13">
                    <c:v>Feb 25</c:v>
                  </c:pt>
                  <c:pt idx="14">
                    <c:v>Mar 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8.2</c:v>
                </c:pt>
                <c:pt idx="1">
                  <c:v>8.5</c:v>
                </c:pt>
                <c:pt idx="2">
                  <c:v>8.1</c:v>
                </c:pt>
                <c:pt idx="3">
                  <c:v>7.9</c:v>
                </c:pt>
                <c:pt idx="4">
                  <c:v>8.3</c:v>
                </c:pt>
                <c:pt idx="5">
                  <c:v>7.8</c:v>
                </c:pt>
                <c:pt idx="6">
                  <c:v>7.4</c:v>
                </c:pt>
                <c:pt idx="7">
                  <c:v>6.9</c:v>
                </c:pt>
                <c:pt idx="8">
                  <c:v>6.5</c:v>
                </c:pt>
                <c:pt idx="9">
                  <c:v>6.1</c:v>
                </c:pt>
                <c:pt idx="10">
                  <c:v>5.8</c:v>
                </c:pt>
                <c:pt idx="11">
                  <c:v>5.5</c:v>
                </c:pt>
                <c:pt idx="12">
                  <c:v>5.2</c:v>
                </c:pt>
                <c:pt idx="13">
                  <c:v>4.9</c:v>
                </c:pt>
                <c:pt idx="14">
                  <c:v>4.7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Engagement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Brand Alpha</c:v>
                  </c:pt>
                  <c:pt idx="1">
                    <c:v>Brand Beta</c:v>
                  </c:pt>
                  <c:pt idx="2">
                    <c:v>Brand Gamma</c:v>
                  </c:pt>
                  <c:pt idx="3">
                    <c:v>Brand Delta</c:v>
                  </c:pt>
                  <c:pt idx="4">
                    <c:v>Brand Echo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2.1</c:v>
                </c:pt>
                <c:pt idx="2">
                  <c:v>1.7</c:v>
                </c:pt>
                <c:pt idx="3">
                  <c:v>1.3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Conversions (K)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Brand Alpha</c:v>
                  </c:pt>
                  <c:pt idx="1">
                    <c:v>Brand Beta</c:v>
                  </c:pt>
                  <c:pt idx="2">
                    <c:v>Brand Gamma</c:v>
                  </c:pt>
                  <c:pt idx="3">
                    <c:v>Brand Delta</c:v>
                  </c:pt>
                  <c:pt idx="4">
                    <c:v>Brand Echo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</c:v>
                </c:pt>
                <c:pt idx="1">
                  <c:v>31</c:v>
                </c:pt>
                <c:pt idx="2">
                  <c:v>28</c:v>
                </c:pt>
                <c:pt idx="3">
                  <c:v>22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472B6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New Visitors</c:v>
                </c:pt>
                <c:pt idx="1">
                  <c:v>Returning Customers</c:v>
                </c:pt>
                <c:pt idx="2">
                  <c:v>High-Value</c:v>
                </c:pt>
                <c:pt idx="3">
                  <c:v>At-Risk</c:v>
                </c:pt>
                <c:pt idx="4">
                  <c:v>Dormant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32</c:v>
                </c:pt>
                <c:pt idx="1">
                  <c:v>28</c:v>
                </c:pt>
                <c:pt idx="2">
                  <c:v>22</c:v>
                </c:pt>
                <c:pt idx="3">
                  <c:v>11</c:v>
                </c:pt>
                <c:pt idx="4">
                  <c:v>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Channel Score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Email</c:v>
                  </c:pt>
                  <c:pt idx="1">
                    <c:v>Instagram</c:v>
                  </c:pt>
                  <c:pt idx="2">
                    <c:v>WhatsApp</c:v>
                  </c:pt>
                  <c:pt idx="3">
                    <c:v>Facebook</c:v>
                  </c:pt>
                  <c:pt idx="4">
                    <c:v>Google Ads</c:v>
                  </c:pt>
                  <c:pt idx="5">
                    <c:v>YouTube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68</c:v>
                </c:pt>
                <c:pt idx="2">
                  <c:v>74</c:v>
                </c:pt>
                <c:pt idx="3">
                  <c:v>61</c:v>
                </c:pt>
                <c:pt idx="4">
                  <c:v>88</c:v>
                </c:pt>
                <c:pt idx="5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4B8A6"/>
                </a:solidFill>
              </a:rPr>
              <a:t>MULTI BRAND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Marketing Campaign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Performance Dashboard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" y="3063240"/>
            <a:ext cx="201168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004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BD5E1"/>
                </a:solidFill>
              </a:rPr>
              <a:t>Comprehensive analysis of campaign performance across brands,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BD5E1"/>
                </a:solidFill>
              </a:rPr>
              <a:t>channels, and customer segments — FY 2024–2025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by: Marketing Analytics Team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DASHBOARD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 Brand Marketing Campaign Performance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46304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35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12.4M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Impressions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0" y="1417320"/>
            <a:ext cx="1463040" cy="685800"/>
          </a:xfrm>
          <a:prstGeom prst="rect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417320"/>
            <a:ext cx="54864" cy="6858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1435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</a:rPr>
              <a:t>3.2M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12848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Engagement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417320"/>
            <a:ext cx="1463040" cy="685800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417320"/>
            <a:ext cx="54864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435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$8.7M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04488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1417320"/>
            <a:ext cx="1463040" cy="685800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417320"/>
            <a:ext cx="54864" cy="685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1435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</a:rPr>
              <a:t>142K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96128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Conversions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78040" y="1417320"/>
            <a:ext cx="1463040" cy="6858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141732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1435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289K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87768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Leads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240280"/>
            <a:ext cx="411480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Engagement Trend 2024→2025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291840"/>
            <a:ext cx="475488" cy="-18288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" y="3108960"/>
            <a:ext cx="475488" cy="27432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91056" y="3383280"/>
            <a:ext cx="475488" cy="-18288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66544" y="3200400"/>
            <a:ext cx="475488" cy="-18288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42032" y="3017520"/>
            <a:ext cx="475488" cy="-9144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2926080"/>
            <a:ext cx="475488" cy="-9144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2834640"/>
            <a:ext cx="475488" cy="-91440"/>
          </a:xfrm>
          <a:prstGeom prst="line">
            <a:avLst/>
          </a:prstGeom>
          <a:noFill/>
          <a:ln w="3175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240280"/>
            <a:ext cx="4114800" cy="2331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Brand Revenue &amp; Conversion Comparison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108960"/>
            <a:ext cx="41148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5232" y="3694176"/>
            <a:ext cx="274320" cy="87782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572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BrandA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06440" y="3566160"/>
            <a:ext cx="411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5352" y="3968496"/>
            <a:ext cx="274320" cy="60350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4572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BrandB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766560" y="3337560"/>
            <a:ext cx="41148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05472" y="3831336"/>
            <a:ext cx="274320" cy="7406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4572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BrandC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726680" y="3794760"/>
            <a:ext cx="4114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65592" y="4105656"/>
            <a:ext cx="274320" cy="46634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4572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BrandD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METRICS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Campaign-wide performance indicators across all brands and channels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600200" cy="21945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90472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12.4M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2004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Impressions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+18% vs last year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93392" y="1234440"/>
            <a:ext cx="1600200" cy="2194560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96312" y="1417320"/>
            <a:ext cx="594360" cy="59436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490472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4832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4899"/>
                </a:solidFill>
              </a:rPr>
              <a:t>3.2M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084832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Engagement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39112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-8% declining trend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758184" y="1234440"/>
            <a:ext cx="1600200" cy="21945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61104" y="1417320"/>
            <a:ext cx="594360" cy="59436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90472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49624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$8.7M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3849624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03904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+24% YoY growth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522976" y="1234440"/>
            <a:ext cx="1600200" cy="219456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25896" y="1417320"/>
            <a:ext cx="594360" cy="594360"/>
          </a:xfrm>
          <a:prstGeom prst="ellipse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490472"/>
            <a:ext cx="374904" cy="374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14416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</a:rPr>
              <a:t>142K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5614416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Conversions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68696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+11% improvement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287768" y="1234440"/>
            <a:ext cx="1600200" cy="21945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90688" y="1417320"/>
            <a:ext cx="594360" cy="59436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1490472"/>
            <a:ext cx="374904" cy="374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79208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289K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7379208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Leads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333488" y="29992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+31% pipeline growth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28600" y="3703320"/>
            <a:ext cx="8686800" cy="77724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11480" y="3749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</a:rPr>
              <a:t>📌  Key Insight: Revenue and Leads show strong growth, but Engagement rate is declining — pointing to a need for deeper audience re-engagement strategies across brand channels.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ENGAGEMENT TREND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Monthly engagement rate — Declining trend observed from Q3 2024 through Q1 2025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234440"/>
            <a:ext cx="2468880" cy="91440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123444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56832" y="13075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8.5%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56832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Peak Rate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56832" y="18928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Feb 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92240" y="2286000"/>
            <a:ext cx="2468880" cy="914400"/>
          </a:xfrm>
          <a:prstGeom prst="rect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286000"/>
            <a:ext cx="73152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4.7%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56832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Current 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56832" y="29443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Mar 2025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3337560"/>
            <a:ext cx="2468880" cy="91440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333756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34107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-44%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656832" y="3813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Drop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56832" y="3995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Year-on-year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DF2F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⚠  Recommendation: Revamp creative content strategy and A/B test new formats to reverse engagement decline before Q2 2025.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BRAND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Revenue and Conversion comparison across all active brand portfolios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34440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23444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0" y="13075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27101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Alpha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15544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Revenue: $2.8M   |   Conversions: 42K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0" y="1938528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1938528"/>
            <a:ext cx="64008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20116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0" y="2029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B+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197510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Beta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22585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Revenue: $2.1M   |   Conversions: 31K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43600" y="2642616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2642616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71576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2734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80760" y="26791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Gamma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0760" y="2962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Revenue: $1.7M   |   Conversions: 28K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43600" y="3346704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3346704"/>
            <a:ext cx="64008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3419856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C+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80760" y="33832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Delta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080760" y="3666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Revenue: $1.3M   |   Conversions: 22K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0" y="4050792"/>
            <a:ext cx="292608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0" y="4050792"/>
            <a:ext cx="64008" cy="59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4123944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12480" y="41422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080760" y="408736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Brand Echo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080760" y="43708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Revenue: $0.8M   |   Conversions: 19K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 SEGMENTATION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Audience breakdown by demographics, behavior, and value tier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88720"/>
            <a:ext cx="4206240" cy="594360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1887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22529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32%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0680" y="12252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New Visitors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5361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First-time site visitors, high acquisition cost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901952"/>
            <a:ext cx="4206240" cy="594360"/>
          </a:xfrm>
          <a:prstGeom prst="rect">
            <a:avLst/>
          </a:prstGeom>
          <a:solidFill>
            <a:srgbClr val="F472B6">
              <a:alpha val="8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901952"/>
            <a:ext cx="64008" cy="594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93852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</a:rPr>
              <a:t>28%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40680" y="1938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Returning Customers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22494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Loyal buyers, strong LTV potential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2615184"/>
            <a:ext cx="4206240" cy="59436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615184"/>
            <a:ext cx="6400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6517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22%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0680" y="2651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High-Value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00600" y="2962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Top 20% revenue generators, premium targeting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63440" y="3328416"/>
            <a:ext cx="4206240" cy="594360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3328416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33649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11%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40680" y="3364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At-Risk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3675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Declining activity, re-engagement campaigns needed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663440" y="4041648"/>
            <a:ext cx="4206240" cy="594360"/>
          </a:xfrm>
          <a:prstGeom prst="rect">
            <a:avLst/>
          </a:prstGeom>
          <a:solidFill>
            <a:srgbClr val="64748B">
              <a:alpha val="8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4041648"/>
            <a:ext cx="64008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407822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7%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440680" y="40782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Dormant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00600" y="4389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Inactive 90+ days, reactivation priority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CHANNEL PERFORMANCE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ROI, reach, and conversion rate across all active marketing channels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434840" y="1188720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434840" y="1188720"/>
            <a:ext cx="21945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280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44568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Email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44568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82/100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44568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4.2M  |  Conv: 3.8%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44568" y="2084832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4568" y="2084832"/>
            <a:ext cx="1619585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496312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2496312"/>
            <a:ext cx="219456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↑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4456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Google Ads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44568" y="2889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88/100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44568" y="3118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3.8M  |  Conv: 4.2%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44568" y="3392424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44568" y="3392424"/>
            <a:ext cx="1738092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3803904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34840" y="3803904"/>
            <a:ext cx="2194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3895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544568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WhatsApp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44568" y="4197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74/100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44568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2.1M  |  Conv: 3.1%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44568" y="4700016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44568" y="4700016"/>
            <a:ext cx="1461577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66560" y="1188720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766560" y="1188720"/>
            <a:ext cx="21945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58200" y="1280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↓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876288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Instagram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76288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68/100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876288" y="18105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3.3M  |  Conv: 2.6%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876288" y="2084832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76288" y="2084832"/>
            <a:ext cx="1343071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66560" y="2496312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766560" y="2496312"/>
            <a:ext cx="21945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5820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↓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687628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Facebook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876288" y="2889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61/100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876288" y="3118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2.8M  |  Conv: 2.2%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876288" y="3392424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76288" y="3392424"/>
            <a:ext cx="1204813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66560" y="3803904"/>
            <a:ext cx="21945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766560" y="3803904"/>
            <a:ext cx="21945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458200" y="389534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↓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876288" y="39136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YouTube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876288" y="4197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Score: 55/100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876288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Reach: 1.6M  |  Conv: 1.9%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6876288" y="4700016"/>
            <a:ext cx="1975104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76288" y="4700016"/>
            <a:ext cx="1086307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INSIGHTS &amp;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207008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24712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Reverse Engagement Decline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Engagement dropped 44% from 8.5% to 4.7%. Launch creative refresh campaigns and test short-form video formats across Instagram &amp; YouTube.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1207008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1247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Double Down on Google &amp;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2984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Top performers with 88 and 82/100 scores respectively. Increase budget allocation by 20% and optimize targeting parameters.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20700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49631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Reactivate Dormant Segments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7% of audience is dormant (90+ days inactive). Deploy personalized win-back sequences with exclusive incentives to recover revenue.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207008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49631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Scale Brand Alpha &amp; Beta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6700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Alpha ($2.8M) and Beta ($2.1M) drive 57% of total revenue. Expand to new geographies and replicate their content strategies across underperforming brands.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06240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867912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86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Re-evaluate Facebook &amp; YouTube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0416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Scoring 61 and 55 respectively with declining trends. Consider creative rework or reallocating budget to higher-converting channels.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06240" cy="120700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867912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86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Invest in High-Value Segment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416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High-value customers (22% of base) drive disproportionate revenue. Build VIP loyalty programs and early-access campaigns to maximize LTV.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Turning Data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Into Action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📈  Revenue grew 24% YoY — campaign ROI is strong across top brands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718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⚠️  Engagement decline demands immediate creative strategy overhaul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🎯  Google Ads &amp; Email are top channels — prioritize for Q2 budget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🔄  Reactivate dormant segment and expand high-value customer programs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526280"/>
            <a:ext cx="146304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 Analytics Team  |  Q1 2025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Brand Marketing Campaign Performance Dashboard</dc:title>
  <dc:subject>PptxGenJS Presentation</dc:subject>
  <dc:creator>PptxGenJS</dc:creator>
  <cp:lastModifiedBy>PptxGenJS</cp:lastModifiedBy>
  <cp:revision>1</cp:revision>
  <dcterms:created xsi:type="dcterms:W3CDTF">2026-04-17T08:57:53Z</dcterms:created>
  <dcterms:modified xsi:type="dcterms:W3CDTF">2026-04-17T08:57:53Z</dcterms:modified>
</cp:coreProperties>
</file>